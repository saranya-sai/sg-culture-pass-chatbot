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52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SG" sz="1400" b="1">
                <a:solidFill>
                  <a:srgbClr val="1B2430"/>
                </a:solidFill>
                <a:latin typeface="Calibri"/>
              </a:rPr>
              <a:t>Ranking quality, nDCG@5 (39 answerable scenarios)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nDCG@5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9C6CE"/>
              </a:solidFill>
            </c:spPr>
            <c:extLst>
              <c:ext xmlns:c16="http://schemas.microsoft.com/office/drawing/2014/chart" uri="{C3380CC4-5D6E-409C-BE32-E72D297353CC}">
                <c16:uniqueId val="{00000001-730C-7347-8FF6-EB50BFDC14F4}"/>
              </c:ext>
            </c:extLst>
          </c:dPt>
          <c:dPt>
            <c:idx val="1"/>
            <c:invertIfNegative val="1"/>
            <c:bubble3D val="0"/>
            <c:spPr>
              <a:solidFill>
                <a:srgbClr val="B9C6CE"/>
              </a:solidFill>
            </c:spPr>
            <c:extLst>
              <c:ext xmlns:c16="http://schemas.microsoft.com/office/drawing/2014/chart" uri="{C3380CC4-5D6E-409C-BE32-E72D297353CC}">
                <c16:uniqueId val="{00000003-730C-7347-8FF6-EB50BFDC14F4}"/>
              </c:ext>
            </c:extLst>
          </c:dPt>
          <c:dPt>
            <c:idx val="2"/>
            <c:invertIfNegative val="1"/>
            <c:bubble3D val="0"/>
            <c:spPr>
              <a:solidFill>
                <a:srgbClr val="B9C6CE"/>
              </a:solidFill>
            </c:spPr>
            <c:extLst>
              <c:ext xmlns:c16="http://schemas.microsoft.com/office/drawing/2014/chart" uri="{C3380CC4-5D6E-409C-BE32-E72D297353CC}">
                <c16:uniqueId val="{00000005-730C-7347-8FF6-EB50BFDC14F4}"/>
              </c:ext>
            </c:extLst>
          </c:dPt>
          <c:dPt>
            <c:idx val="3"/>
            <c:invertIfNegative val="1"/>
            <c:bubble3D val="0"/>
            <c:spPr>
              <a:solidFill>
                <a:srgbClr val="B9C6CE"/>
              </a:solidFill>
            </c:spPr>
            <c:extLst>
              <c:ext xmlns:c16="http://schemas.microsoft.com/office/drawing/2014/chart" uri="{C3380CC4-5D6E-409C-BE32-E72D297353CC}">
                <c16:uniqueId val="{00000007-730C-7347-8FF6-EB50BFDC14F4}"/>
              </c:ext>
            </c:extLst>
          </c:dPt>
          <c:dPt>
            <c:idx val="4"/>
            <c:invertIfNegative val="1"/>
            <c:bubble3D val="0"/>
            <c:spPr>
              <a:solidFill>
                <a:srgbClr val="0E6B63"/>
              </a:solidFill>
            </c:spPr>
            <c:extLst>
              <c:ext xmlns:c16="http://schemas.microsoft.com/office/drawing/2014/chart" uri="{C3380CC4-5D6E-409C-BE32-E72D297353CC}">
                <c16:uniqueId val="{00000009-730C-7347-8FF6-EB50BFDC14F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1B2430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Llama, no catalogue</c:v>
                </c:pt>
                <c:pt idx="1">
                  <c:v>Site search bar</c:v>
                </c:pt>
                <c:pt idx="2">
                  <c:v>Llama + catalogue</c:v>
                </c:pt>
                <c:pt idx="3">
                  <c:v>Site filters, all needs known</c:v>
                </c:pt>
                <c:pt idx="4">
                  <c:v>Our chatbot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</c:v>
                </c:pt>
                <c:pt idx="1">
                  <c:v>0.25</c:v>
                </c:pt>
                <c:pt idx="2">
                  <c:v>0.27</c:v>
                </c:pt>
                <c:pt idx="3">
                  <c:v>0.72</c:v>
                </c:pt>
                <c:pt idx="4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30C-7347-8FF6-EB50BFDC14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5DCE2"/>
            </a:solidFill>
          </a:ln>
        </c:spPr>
        <c:txPr>
          <a:bodyPr/>
          <a:lstStyle/>
          <a:p>
            <a:pPr>
              <a:defRPr sz="1300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581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ADHITHI (0:00)</a:t>
            </a:r>
          </a:p>
          <a:p>
            <a:r>
              <a:t>We are Group 4. This is the high-level design of our SG Culture Pass AI chatbot: an intelligent event recommender and outing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ADHITHI (0:12)</a:t>
            </a:r>
          </a:p>
          <a:p>
            <a:r>
              <a:t>Culture Pass provides a hundred dollars to eligible adults, yet only 411,000 of 1.4 million registrants had used credits after a year. The challenge is choosing: filters and keyword search leave people to reconcile ages, interests, budgets and travel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ADHITHI (0:34)</a:t>
            </a:r>
          </a:p>
          <a:p>
            <a:r>
              <a:t>Our system turns one natural-language request into an explained shortlist or day plan. Unlike simple retrieval, it evaluates suitability, asks worthwhile questions, and clearly labels alternatives when constraints must be relaxed.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SARANYA (0:51)</a:t>
            </a:r>
          </a:p>
          <a:p>
            <a:r>
              <a:t>We used a fixed SISTIC snapshot because the complete Culture Pass dataset was unavailable. Of 354 records, 147 were flagged Culture Pass events; OneMap supplied coordinates for 140. This snapshot anchors reproducible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SARANYA (1:09)</a:t>
            </a:r>
          </a:p>
          <a:p>
            <a:r>
              <a:t>Some rating, accessibility and group attributes were missing. We derived what rules could support and seeded the rest synthetically, with provenance tags. Therefore synthetic-dependent results test reasoning over assumed attributes, not verified event suitability.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ABINAYA (1:27)</a:t>
            </a:r>
          </a:p>
          <a:p>
            <a:r>
              <a:t>The eight layers form a cooperating-experts architecture. Language rules build the Party Frame; a dialogue manager may clarify it. The knowledge graph stores event frames; hybrid retrieval proposes candidates. Deductive and fuzzy reasoning evaluate them, group scoring ranks them, and planning and explanations produce the response. The optional local LLM never decides eligibility.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ABINAYA (1:56)</a:t>
            </a:r>
          </a:p>
          <a:p>
            <a:r>
              <a:t>Each technique has a defined role. Rule-based extraction achieved F1 0.98; value-of-information questions improved vague requests. Forward chaining derives hard requirements; fuzzy logic scores practical trade-offs. GroupFit combines individual scores, although its advantage over averaging is not yet demonstrated. Exact search handles small itinerary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ABINAYA (2:21)</a:t>
            </a:r>
          </a:p>
          <a:p>
            <a:r>
              <a:t>For this family request, the parser extracts two children aged six and nine, weekend dates, Tampines, a thirty-dollar per-person budget and crafts. The Party Frame feeds forward-chaining rules: age restrictions exclude unsuitable ratings, while dates, price and distance constrain candidates. No clarification is needed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ABINAYA (2:45)</a:t>
            </a:r>
          </a:p>
          <a:p>
            <a:r>
              <a:t>The deductive gate checks each candidate; fuzzy practicality and group scoring help rank those that remain. Only one satisfies every stated requirement. The recommender then relaxes permitted constraints one at a time and labels each alternative. Interests are preferences, not hard limits, so some picks, even the exact match, aren't crafts.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ABINAYA (3:13)</a:t>
            </a:r>
          </a:p>
          <a:p>
            <a:r>
              <a:rPr dirty="0"/>
              <a:t>The second use case asks for three stops near Bugis. </a:t>
            </a:r>
            <a:r>
              <a:t>Picking the three highest-ranked events separately can fail because sessions overlap or venues are far apart. </a:t>
            </a:r>
            <a:r>
              <a:rPr dirty="0"/>
              <a:t>Exact search checks feasible orders and </a:t>
            </a:r>
            <a:r>
              <a:rPr dirty="0" err="1"/>
              <a:t>maximises</a:t>
            </a:r>
            <a:r>
              <a:rPr dirty="0"/>
              <a:t> group fit and variety while </a:t>
            </a:r>
            <a:r>
              <a:rPr dirty="0" err="1"/>
              <a:t>penalising</a:t>
            </a:r>
            <a:r>
              <a:rPr dirty="0"/>
              <a:t> travel and waiting. Larger candidate pools switch to a genetic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SARANYA (3:40)</a:t>
            </a:r>
          </a:p>
          <a:p>
            <a:r>
              <a:rPr dirty="0"/>
              <a:t>We evaluated 42 scenarios across six tiers using an independent catalogue-based oracle. The site-filter baseline was deliberately strong: it knew all hidden needs. A simulated user answered the chatbot’s clarifying questions. We also tested keyword search and local Llama with and without the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SARANYA (4:04)</a:t>
            </a:r>
          </a:p>
          <a:p>
            <a:r>
              <a:t>On 39 answerable scenarios, nDCG at five was 0.92 for our chatbot, versus 0.72 for informed site filtering and 0.27 for Llama with the catalogue. It invented no events. Limitations remain: vague requests, synthetic attributes, team-authored tests, and no measured GroupFit gain over simple averaging. Nor does it yet learn across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ADHITHI (4:32)</a:t>
            </a:r>
          </a:p>
          <a:p>
            <a:r>
              <a:t>We also redesigned the visitor interface around clear examples rather than exposing developer controls first. Users can tap a topic button, such as Budget per person, and the chatbot asks about it with one-tap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ADHITHI (4:51)</a:t>
            </a:r>
          </a:p>
          <a:p>
            <a:r>
              <a:t>Replies now show understood requirements, correctable assumptions and concise reasons. Detailed traces remain available for assessors.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ADHITHI (5:00)</a:t>
            </a:r>
          </a:p>
          <a:p>
            <a:r>
              <a:t>The prototype and reproducible evaluation are linked here, and this is how the chatbot could look on the Culture Pass site.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allpaper" descr="wallpap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per card"/>
          <p:cNvSpPr/>
          <p:nvPr/>
        </p:nvSpPr>
        <p:spPr>
          <a:xfrm>
            <a:off x="2194560" y="1325880"/>
            <a:ext cx="7799831" cy="42062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0" y="178308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6B63"/>
                </a:solidFill>
                <a:latin typeface="Calibri"/>
              </a:rPr>
              <a:t>HIGH-LEVEL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148840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B2430"/>
                </a:solidFill>
                <a:latin typeface="Cambria"/>
              </a:rPr>
              <a:t>SG Culture Pass </a:t>
            </a:r>
            <a:r>
              <a:rPr sz="3800" b="1" i="0">
                <a:solidFill>
                  <a:srgbClr val="C8102E"/>
                </a:solidFill>
                <a:latin typeface="Cambria"/>
              </a:rPr>
              <a:t>AI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08960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B6675"/>
                </a:solidFill>
                <a:latin typeface="Calibri"/>
              </a:rPr>
              <a:t>An event recommender and outing planner that reasons about everyone you are going with, and a technical walk-through of two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16052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Group 4  ·  Adhithi  ·  Abinaya  ·  Saranya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52628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675"/>
                </a:solidFill>
                <a:latin typeface="Calibri"/>
              </a:rPr>
              <a:t>NUS-ISS Intelligent Reasoning Systems practice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93776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6B63"/>
                </a:solidFill>
                <a:latin typeface="Calibri"/>
              </a:rPr>
              <a:t>sg-culture-pass-chatbot.streamlit.app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1 · THE PROBLEM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The credits are there; choosing is hard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2 / 15</a:t>
            </a:r>
          </a:p>
        </p:txBody>
      </p:sp>
      <p:sp>
        <p:nvSpPr>
          <p:cNvPr id="6" name="Stat 1.4M"/>
          <p:cNvSpPr txBox="1"/>
          <p:nvPr/>
        </p:nvSpPr>
        <p:spPr>
          <a:xfrm>
            <a:off x="548640" y="160020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0E6B63"/>
                </a:solidFill>
                <a:latin typeface="Cambria"/>
              </a:rPr>
              <a:t>1.4M</a:t>
            </a:r>
          </a:p>
        </p:txBody>
      </p:sp>
      <p:sp>
        <p:nvSpPr>
          <p:cNvPr id="7" name="Stat label 1.4M"/>
          <p:cNvSpPr txBox="1"/>
          <p:nvPr/>
        </p:nvSpPr>
        <p:spPr>
          <a:xfrm>
            <a:off x="548640" y="24688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Singaporeans registered for SG Culture Pass</a:t>
            </a:r>
          </a:p>
        </p:txBody>
      </p:sp>
      <p:sp>
        <p:nvSpPr>
          <p:cNvPr id="8" name="Stat 411k"/>
          <p:cNvSpPr txBox="1"/>
          <p:nvPr/>
        </p:nvSpPr>
        <p:spPr>
          <a:xfrm>
            <a:off x="4297679" y="160020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C8102E"/>
                </a:solidFill>
                <a:latin typeface="Cambria"/>
              </a:rPr>
              <a:t>411k</a:t>
            </a:r>
          </a:p>
        </p:txBody>
      </p:sp>
      <p:sp>
        <p:nvSpPr>
          <p:cNvPr id="9" name="Stat label 411k"/>
          <p:cNvSpPr txBox="1"/>
          <p:nvPr/>
        </p:nvSpPr>
        <p:spPr>
          <a:xfrm>
            <a:off x="4297679" y="24688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had used any of their S$100 credit</a:t>
            </a:r>
          </a:p>
        </p:txBody>
      </p:sp>
      <p:sp>
        <p:nvSpPr>
          <p:cNvPr id="10" name="Stat ~10%"/>
          <p:cNvSpPr txBox="1"/>
          <p:nvPr/>
        </p:nvSpPr>
        <p:spPr>
          <a:xfrm>
            <a:off x="8046719" y="160020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C8102E"/>
                </a:solidFill>
                <a:latin typeface="Cambria"/>
              </a:rPr>
              <a:t>~10%</a:t>
            </a:r>
          </a:p>
        </p:txBody>
      </p:sp>
      <p:sp>
        <p:nvSpPr>
          <p:cNvPr id="11" name="Stat label ~10%"/>
          <p:cNvSpPr txBox="1"/>
          <p:nvPr/>
        </p:nvSpPr>
        <p:spPr>
          <a:xfrm>
            <a:off x="8046719" y="24688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of the S$300 million set aside was spent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675"/>
                </a:solidFill>
                <a:latin typeface="Calibri"/>
              </a:rPr>
              <a:t>A year after launch (MCCY one-year update, reported by Loh, 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4023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2430"/>
                </a:solidFill>
                <a:latin typeface="Cambria"/>
              </a:rPr>
              <a:t>Fixed filters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52628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Genre, date, price band, rating, language. No place, no specific interest, no way to check a whole group at once.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379476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1999" y="4023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2430"/>
                </a:solidFill>
                <a:latin typeface="Cambria"/>
              </a:rPr>
              <a:t>A keyword search 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452628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One natural request returned 165 results to read through.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79476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023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2430"/>
                </a:solidFill>
                <a:latin typeface="Cambria"/>
              </a:rPr>
              <a:t>No planning, no reasons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2628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Nothing combines events into a day out, or says why an event suits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1 · OUR 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One request in your own words, one explained answer out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3 / 15</a:t>
            </a:r>
          </a:p>
        </p:txBody>
      </p:sp>
      <p:sp>
        <p:nvSpPr>
          <p:cNvPr id="6" name="Request bubble"/>
          <p:cNvSpPr/>
          <p:nvPr/>
        </p:nvSpPr>
        <p:spPr>
          <a:xfrm>
            <a:off x="548640" y="1645920"/>
            <a:ext cx="4754880" cy="1371600"/>
          </a:xfrm>
          <a:prstGeom prst="roundRect">
            <a:avLst>
              <a:gd name="adj" fmla="val 1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2976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1B2430"/>
                </a:solidFill>
                <a:latin typeface="Calibri"/>
              </a:rPr>
              <a:t>“Something hands-on for my 2 kids (6 and 9) this weekend near Tampines, under $30”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3154680"/>
            <a:ext cx="0" cy="548640"/>
          </a:xfrm>
          <a:prstGeom prst="line">
            <a:avLst/>
          </a:prstGeom>
          <a:ln w="31750">
            <a:solidFill>
              <a:srgbClr val="0E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nswer card"/>
          <p:cNvSpPr/>
          <p:nvPr/>
        </p:nvSpPr>
        <p:spPr>
          <a:xfrm>
            <a:off x="548640" y="3794760"/>
            <a:ext cx="47548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mbria"/>
              </a:rPr>
              <a:t>A short, explained shortlist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0E6B63"/>
                </a:solidFill>
                <a:latin typeface="Calibri"/>
              </a:rPr>
              <a:t>✓ About crafts  ✓ Rated General, fine for a 6-year-old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0E6B63"/>
                </a:solidFill>
                <a:latin typeface="Calibri"/>
              </a:rPr>
              <a:t>✓ On Sat 12 Sep  ✓ From $9 per person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B6675"/>
                </a:solidFill>
                <a:latin typeface="Calibri"/>
              </a:rPr>
              <a:t>…or a timed plan for the whole day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1691640"/>
            <a:ext cx="420624" cy="420624"/>
          </a:xfrm>
          <a:prstGeom prst="ellipse">
            <a:avLst/>
          </a:prstGeom>
          <a:solidFill>
            <a:srgbClr val="0E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67335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mbria"/>
              </a:rPr>
              <a:t>Asks only questions that change its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4884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675"/>
                </a:solidFill>
                <a:latin typeface="Calibri"/>
              </a:rPr>
              <a:t>Value of information decides whether a question is worth the user's time.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0" y="3200400"/>
            <a:ext cx="420624" cy="420624"/>
          </a:xfrm>
          <a:prstGeom prst="ellipse">
            <a:avLst/>
          </a:prstGeom>
          <a:solidFill>
            <a:srgbClr val="0E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3200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8211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mbria"/>
              </a:rPr>
              <a:t>Never relaxes age or access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6576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675"/>
                </a:solidFill>
                <a:latin typeface="Calibri"/>
              </a:rPr>
              <a:t>Other limits may be loosened when too few events fit, and every loosening is labelled.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0" y="4709160"/>
            <a:ext cx="420624" cy="420624"/>
          </a:xfrm>
          <a:prstGeom prst="ellipse">
            <a:avLst/>
          </a:prstGeom>
          <a:solidFill>
            <a:srgbClr val="0E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47091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69087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mbria"/>
              </a:rPr>
              <a:t>Explains every pick and can plan a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16636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675"/>
                </a:solidFill>
                <a:latin typeface="Calibri"/>
              </a:rPr>
              <a:t>Reasons come from the reasoning trace; the planner orders stops with travel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2 · DATA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From a SISTIC snapshot to a Culture Pass knowledge base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0E6B63"/>
                </a:solidFill>
                <a:latin typeface="Cambria"/>
              </a:rPr>
              <a:t>354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1B2430"/>
                </a:solidFill>
                <a:latin typeface="Calibri"/>
              </a:rPr>
              <a:t>SISTIC records,</a:t>
            </a:r>
          </a:p>
          <a:p>
            <a:pPr algn="ctr"/>
            <a:r>
              <a:rPr sz="1300" b="0" i="0">
                <a:solidFill>
                  <a:srgbClr val="1B2430"/>
                </a:solidFill>
                <a:latin typeface="Calibri"/>
              </a:rPr>
              <a:t>pulled 11 Sep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2304288"/>
            <a:ext cx="411480" cy="0"/>
          </a:xfrm>
          <a:prstGeom prst="line">
            <a:avLst/>
          </a:prstGeom>
          <a:ln w="25400">
            <a:solidFill>
              <a:srgbClr val="5B66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150876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60020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0E6B63"/>
                </a:solidFill>
                <a:latin typeface="Cambria"/>
              </a:rPr>
              <a:t>352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317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1B2430"/>
                </a:solidFill>
                <a:latin typeface="Calibri"/>
              </a:rPr>
              <a:t>after removing</a:t>
            </a:r>
          </a:p>
          <a:p>
            <a:pPr algn="ctr"/>
            <a:r>
              <a:rPr sz="1300" b="0" i="0">
                <a:solidFill>
                  <a:srgbClr val="1B2430"/>
                </a:solidFill>
                <a:latin typeface="Calibri"/>
              </a:rPr>
              <a:t>duplicates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2304288"/>
            <a:ext cx="411480" cy="0"/>
          </a:xfrm>
          <a:prstGeom prst="line">
            <a:avLst/>
          </a:prstGeom>
          <a:ln w="25400">
            <a:solidFill>
              <a:srgbClr val="5B66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59" y="150876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0E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0020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147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flagged Culture Pass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by SISTIC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32519" y="2304288"/>
            <a:ext cx="411481" cy="0"/>
          </a:xfrm>
          <a:prstGeom prst="line">
            <a:avLst/>
          </a:prstGeom>
          <a:ln w="25400">
            <a:solidFill>
              <a:srgbClr val="5B66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89719" y="150876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19" y="160020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0E6B63"/>
                </a:solidFill>
                <a:latin typeface="Cambria"/>
              </a:rPr>
              <a:t>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3317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1B2430"/>
                </a:solidFill>
                <a:latin typeface="Calibri"/>
              </a:rPr>
              <a:t>with venue coordinates</a:t>
            </a:r>
          </a:p>
          <a:p>
            <a:pPr algn="ctr"/>
            <a:r>
              <a:rPr sz="1300" b="0" i="0">
                <a:solidFill>
                  <a:srgbClr val="1B2430"/>
                </a:solidFill>
                <a:latin typeface="Calibri"/>
              </a:rPr>
              <a:t>from OneMap</a:t>
            </a:r>
          </a:p>
        </p:txBody>
      </p:sp>
      <p:pic>
        <p:nvPicPr>
          <p:cNvPr id="21" name="Pipeline figure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378" y="3429000"/>
            <a:ext cx="7156938" cy="2514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B6675"/>
                </a:solidFill>
                <a:latin typeface="Calibri"/>
              </a:rPr>
              <a:t>Six scripted steps rebuild the same catalogue on every run. The pull date is also the chatbot's “today”.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2 · DATA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Every gap filled honestly, and tagged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429000" cy="306324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91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mbria"/>
              </a:rPr>
              <a:t>Missing site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675"/>
                </a:solidFill>
                <a:latin typeface="Calibri"/>
              </a:rPr>
              <a:t>SISTIC has no rating, language, group-friendly or accessibility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0896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6B63"/>
                </a:solidFill>
                <a:latin typeface="Calibri"/>
              </a:rPr>
              <a:t>Fix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Rules first (children's events are rated General), then seeded synthetic values by category.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08760"/>
            <a:ext cx="3429000" cy="306324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1999" y="1691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mbria"/>
              </a:rPr>
              <a:t>Messy venue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14884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675"/>
                </a:solidFill>
                <a:latin typeface="Calibri"/>
              </a:rPr>
              <a:t>Automatic geocoding failed for 16 of 62 venues.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10896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6B63"/>
                </a:solidFill>
                <a:latin typeface="Calibri"/>
              </a:rPr>
              <a:t>Fix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12 resolved by hand from published addresses; 7 events say “location unknown” rather than guess.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08760"/>
            <a:ext cx="3429000" cy="306324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91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mbria"/>
              </a:rPr>
              <a:t>Thin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675"/>
                </a:solidFill>
                <a:latin typeface="Calibri"/>
              </a:rPr>
              <a:t>65 Music, 43 Visual Arts, 15 Heritage, 12 Theatre, 10 Dance, 2 Literary Arts, 0 Films.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0896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6B63"/>
                </a:solidFill>
                <a:latin typeface="Calibri"/>
              </a:rPr>
              <a:t>Fix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The chatbot says when nothing matches, and labels the alternatives.</a:t>
            </a:r>
          </a:p>
        </p:txBody>
      </p:sp>
      <p:sp>
        <p:nvSpPr>
          <p:cNvPr id="18" name="Provenance band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12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mbria"/>
              </a:rPr>
              <a:t>Every column carries a provenance tag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48640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7" y="5486400"/>
            <a:ext cx="19293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E6B63"/>
                </a:solidFill>
                <a:latin typeface="Calibri"/>
              </a:rPr>
              <a:t>real (SISTIC, OneMap)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54864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4408" y="5486400"/>
            <a:ext cx="12435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E6B63"/>
                </a:solidFill>
                <a:latin typeface="Calibri"/>
              </a:rPr>
              <a:t>rule-derived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548640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64608" y="5486400"/>
            <a:ext cx="11064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E6B63"/>
                </a:solidFill>
                <a:latin typeface="Calibri"/>
              </a:rPr>
              <a:t>synthetic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2920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Results are split by the data they depend on: </a:t>
            </a:r>
            <a:r>
              <a:rPr sz="1500" b="1" i="0">
                <a:solidFill>
                  <a:srgbClr val="1B2430"/>
                </a:solidFill>
                <a:latin typeface="Calibri"/>
              </a:rPr>
              <a:t>22 real-data, 3 rule-derived and 14 synthetic-data scenarios.</a:t>
            </a:r>
            <a:r>
              <a:rPr sz="1500" b="0" i="0">
                <a:solidFill>
                  <a:srgbClr val="1B2430"/>
                </a:solidFill>
                <a:latin typeface="Calibri"/>
              </a:rPr>
              <a:t> Synthetic results only show the reasoning 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3 · SYSTEM DESIGN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Eight specialist layers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6 / 15</a:t>
            </a:r>
          </a:p>
        </p:txBody>
      </p:sp>
      <p:pic>
        <p:nvPicPr>
          <p:cNvPr id="6" name="Architecture figure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8066314" cy="4754880"/>
          </a:xfrm>
          <a:prstGeom prst="rect">
            <a:avLst/>
          </a:prstGeom>
          <a:ln w="12700">
            <a:solidFill>
              <a:srgbClr val="D5DC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026434" y="1508760"/>
            <a:ext cx="26166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6B63"/>
                </a:solidFill>
                <a:latin typeface="Cambria"/>
              </a:rPr>
              <a:t>Long-term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6434" y="1892807"/>
            <a:ext cx="26166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A knowledge graph: 147 event frames, 256 nodes, 1,045 edges.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6434" y="3108960"/>
            <a:ext cx="26166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6B63"/>
                </a:solidFill>
                <a:latin typeface="Cambria"/>
              </a:rPr>
              <a:t>Working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6434" y="3493008"/>
            <a:ext cx="26166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The Party Frame: who is going, when, budget, where, interests, needs. Each slot records whether it was stated, answered or assumed.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6434" y="4709160"/>
            <a:ext cx="26166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6B63"/>
                </a:solidFill>
                <a:latin typeface="Cambria"/>
              </a:rPr>
              <a:t>Optional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6434" y="5093208"/>
            <a:ext cx="26166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The dashed box: fills slots the rules missed and phrases one sentence. Both are checked; it never decides.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3 · SYSTEM DESIGN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Each need, the technique that serves it, and the evidence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7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users need</a:t>
                      </a:r>
                    </a:p>
                  </a:txBody>
                  <a:tcPr marL="137160" marR="137160" anchor="ctr">
                    <a:solidFill>
                      <a:srgbClr val="0E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Technique chosen</a:t>
                      </a:r>
                    </a:p>
                  </a:txBody>
                  <a:tcPr marL="137160" marR="137160" anchor="ctr">
                    <a:solidFill>
                      <a:srgbClr val="0E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137160" marR="137160" anchor="ctr">
                    <a:solidFill>
                      <a:srgbClr val="0E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Calibri"/>
                        </a:rPr>
                        <a:t>Understood in my own words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Rules, place names and date rules (layer 1)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6B63"/>
                          </a:solidFill>
                          <a:latin typeface="Calibri"/>
                        </a:rPr>
                        <a:t>F1 0.98, against 0.48 for an LLM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Calibri"/>
                        </a:rPr>
                        <a:t>Not quizzed, not misread</a:t>
                      </a:r>
                    </a:p>
                  </a:txBody>
                  <a:tcPr marL="137160" marR="13716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Party Frame + value-of-information questions (layer 2)</a:t>
                      </a:r>
                    </a:p>
                  </a:txBody>
                  <a:tcPr marL="137160" marR="13716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6B63"/>
                          </a:solidFill>
                          <a:latin typeface="Calibri"/>
                        </a:rPr>
                        <a:t>Vague requests 0.33 → 0.57</a:t>
                      </a:r>
                    </a:p>
                  </a:txBody>
                  <a:tcPr marL="137160" marR="137160" anchor="ctr"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t>Respect stated hard limits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Forward-chaining rules and a deductive gate (layer 5)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9% violate hidden needs; 63% for Llama + catalogue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Calibri"/>
                        </a:rPr>
                        <a:t>Practical for everyone going</a:t>
                      </a:r>
                    </a:p>
                  </a:txBody>
                  <a:tcPr marL="137160" marR="13716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Fuzzy practicality + GroupFit scoring (layers 5, 6)</a:t>
                      </a:r>
                    </a:p>
                  </a:txBody>
                  <a:tcPr marL="137160" marR="13716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6B63"/>
                          </a:solidFill>
                          <a:latin typeface="Calibri"/>
                        </a:rPr>
                        <a:t>Fuzzy lifts day plans 0.81 → 0.91; GroupFit's gain not yet shown</a:t>
                      </a:r>
                    </a:p>
                  </a:txBody>
                  <a:tcPr marL="137160" marR="137160" anchor="ctr"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Calibri"/>
                        </a:rPr>
                        <a:t>A plan for the day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Exact search; genetic algorithm when large (layer 7)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6B63"/>
                          </a:solidFill>
                          <a:latin typeface="Calibri"/>
                        </a:rPr>
                        <a:t>Optimal on all 56 test problems, 44 ms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30"/>
                          </a:solidFill>
                          <a:latin typeface="Calibri"/>
                        </a:rPr>
                        <a:t>Reasons I can trust</a:t>
                      </a:r>
                    </a:p>
                  </a:txBody>
                  <a:tcPr marL="137160" marR="13716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Explanations from the reasoning trace (layer 8)</a:t>
                      </a:r>
                    </a:p>
                  </a:txBody>
                  <a:tcPr marL="137160" marR="13716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6B63"/>
                          </a:solidFill>
                          <a:latin typeface="Calibri"/>
                        </a:rPr>
                        <a:t>28 of 28 LLM openings passed the fact check</a:t>
                      </a:r>
                    </a:p>
                  </a:txBody>
                  <a:tcPr marL="137160" marR="137160" anchor="ctr"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4 · USE CASE 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A family request through the flow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8 / 15</a:t>
            </a:r>
          </a:p>
        </p:txBody>
      </p:sp>
      <p:pic>
        <p:nvPicPr>
          <p:cNvPr id="6" name="Diagram 2, path highlighted" descr="flow_cas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680960" cy="4118914"/>
          </a:xfrm>
          <a:prstGeom prst="rect">
            <a:avLst/>
          </a:prstGeom>
          <a:ln w="12700">
            <a:solidFill>
              <a:srgbClr val="D5DC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549640" y="146304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B2430"/>
                </a:solidFill>
                <a:latin typeface="Calibri"/>
              </a:rPr>
              <a:t>“Something hands-on for my 2 kids (6 and 9) this weekend near Tampines under $30”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606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PARTY FRAME (LAYER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926080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59367" y="2926080"/>
            <a:ext cx="2889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E6B63"/>
                </a:solidFill>
                <a:latin typeface="Calibri"/>
              </a:rPr>
              <a:t>you + 2 children (6, 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328416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9367" y="3328416"/>
            <a:ext cx="2889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E6B63"/>
                </a:solidFill>
                <a:latin typeface="Calibri"/>
              </a:rPr>
              <a:t>Sat 12 – Sun 13 Sep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730752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9367" y="3730752"/>
            <a:ext cx="2889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E6B63"/>
                </a:solidFill>
                <a:latin typeface="Calibri"/>
              </a:rPr>
              <a:t>near Tampines (10 km)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1330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9367" y="4133088"/>
            <a:ext cx="2889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E6B63"/>
                </a:solidFill>
                <a:latin typeface="Calibri"/>
              </a:rPr>
              <a:t>up to $30 each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4535424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9367" y="4535424"/>
            <a:ext cx="2889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E6B63"/>
                </a:solidFill>
                <a:latin typeface="Calibri"/>
              </a:rPr>
              <a:t>crafts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502920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Rules fired: </a:t>
            </a:r>
            <a:r>
              <a:rPr sz="1300" b="0" i="0">
                <a:solidFill>
                  <a:srgbClr val="1B2430"/>
                </a:solidFill>
                <a:latin typeface="Calibri"/>
              </a:rPr>
              <a:t>no 12+, 13+, 16+ or 18+ ratings; budget, dates and distance are hard requirements.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7339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B6675"/>
                </a:solidFill>
                <a:latin typeface="Calibri"/>
              </a:rPr>
              <a:t>Red: the path this request takes. No question would change the top five, so it answers 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4 · USE CASE 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Only one event fits everything, so it loosens limits openly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9 / 15</a:t>
            </a:r>
          </a:p>
        </p:txBody>
      </p:sp>
      <p:pic>
        <p:nvPicPr>
          <p:cNvPr id="6" name="Diagram 2, relaxation path" descr="flow_rel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669280" cy="3040151"/>
          </a:xfrm>
          <a:prstGeom prst="rect">
            <a:avLst/>
          </a:prstGeom>
          <a:ln w="12700">
            <a:solidFill>
              <a:srgbClr val="D5DC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4640351"/>
            <a:ext cx="5669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675"/>
                </a:solidFill>
                <a:latin typeface="Calibri"/>
              </a:rPr>
              <a:t>Limits are loosened one at a time: dates, day of week, budget, area, distance. Age and access are never loosened.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5029200" cy="777240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481328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1B2430"/>
                </a:solidFill>
                <a:latin typeface="Calibri"/>
              </a:rPr>
              <a:t>Only 1 exact match. Other picks are labelled alternatives: some need wider dates, a higher budget or a longer trip.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423160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423160"/>
            <a:ext cx="274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47802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Roll with History: a Popiah Journey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7063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0608" y="2770632"/>
            <a:ext cx="10149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E6B63"/>
                </a:solidFill>
                <a:latin typeface="Calibri"/>
              </a:rPr>
              <a:t>exact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191256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3191256"/>
            <a:ext cx="274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2461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The Makers' Loft: Nagomi Art Workshop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538727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0608" y="3538727"/>
            <a:ext cx="10149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A6414"/>
                </a:solidFill>
                <a:latin typeface="Calibri"/>
              </a:rPr>
              <a:t>wider 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538727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76488" y="3538727"/>
            <a:ext cx="10149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A6414"/>
                </a:solidFill>
                <a:latin typeface="Calibri"/>
              </a:rPr>
              <a:t>longer trip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959352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3959352"/>
            <a:ext cx="274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014215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Vasily Petrenko &amp; Gautier Capuçon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430682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50608" y="4306824"/>
            <a:ext cx="10149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A6414"/>
                </a:solidFill>
                <a:latin typeface="Calibri"/>
              </a:rPr>
              <a:t>wider dates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430682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76488" y="4306824"/>
            <a:ext cx="10149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A6414"/>
                </a:solidFill>
                <a:latin typeface="Calibri"/>
              </a:rPr>
              <a:t>longer trip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727448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4727448"/>
            <a:ext cx="274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78231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Paruvangal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507492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50608" y="5074920"/>
            <a:ext cx="10149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A6414"/>
                </a:solidFill>
                <a:latin typeface="Calibri"/>
              </a:rPr>
              <a:t>longer trip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495544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5495544"/>
            <a:ext cx="274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550407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Let's Explore: a Heritage Trail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5843016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50608" y="5843016"/>
            <a:ext cx="10149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A6414"/>
                </a:solidFill>
                <a:latin typeface="Calibri"/>
              </a:rPr>
              <a:t>higher budget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66760" y="5843016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76488" y="5843016"/>
            <a:ext cx="10149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8A6414"/>
                </a:solidFill>
                <a:latin typeface="Calibri"/>
              </a:rPr>
              <a:t>longer trip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4 · USE CASE 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Plan my Saturday near Bugis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10 / 15</a:t>
            </a:r>
          </a:p>
        </p:txBody>
      </p:sp>
      <p:pic>
        <p:nvPicPr>
          <p:cNvPr id="6" name="Diagram 2, planner path" descr="flow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126480" cy="3285324"/>
          </a:xfrm>
          <a:prstGeom prst="rect">
            <a:avLst/>
          </a:prstGeom>
          <a:ln w="12700">
            <a:solidFill>
              <a:srgbClr val="D5DC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4885524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B2430"/>
                </a:solidFill>
                <a:latin typeface="Calibri"/>
              </a:rPr>
              <a:t>“Plan my Saturday near Bugis: painting and heritage, 3 things”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42724"/>
            <a:ext cx="6126480" cy="868680"/>
          </a:xfrm>
          <a:prstGeom prst="roundRect">
            <a:avLst>
              <a:gd name="adj" fmla="val 12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342724"/>
            <a:ext cx="5669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Exact search checks 1,320 ordered 3-stop plans from 12 candidates. Feasible timing matters: group fit − travel − idle time + variety.</a:t>
            </a:r>
          </a:p>
        </p:txBody>
      </p:sp>
      <p:pic>
        <p:nvPicPr>
          <p:cNvPr id="10" name="Day plan screenshot" descr="ui_day_p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463040"/>
            <a:ext cx="4478971" cy="4800600"/>
          </a:xfrm>
          <a:prstGeom prst="rect">
            <a:avLst/>
          </a:prstGeom>
          <a:ln w="12700">
            <a:solidFill>
              <a:srgbClr val="D5DCE2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5 · EVALUATION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How we tested it fairly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11 / 15</a:t>
            </a:r>
          </a:p>
        </p:txBody>
      </p:sp>
      <p:pic>
        <p:nvPicPr>
          <p:cNvPr id="6" name="Diagram 5" descr="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1417320"/>
            <a:ext cx="9692640" cy="4442460"/>
          </a:xfrm>
          <a:prstGeom prst="rect">
            <a:avLst/>
          </a:prstGeom>
          <a:ln w="12700">
            <a:solidFill>
              <a:srgbClr val="D5DC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9969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B6675"/>
                </a:solidFill>
                <a:latin typeface="Calibri"/>
              </a:rPr>
              <a:t>The site-filter user is given every hidden need, so that baseline is deliberately strong. Every baseline runs locally, so anyone can re-run the numbers.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5 · EVALUATION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What the numbers show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12 / 15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309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tat 0"/>
          <p:cNvSpPr txBox="1"/>
          <p:nvPr/>
        </p:nvSpPr>
        <p:spPr>
          <a:xfrm>
            <a:off x="7406640" y="160020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0E6B63"/>
                </a:solidFill>
                <a:latin typeface="Cambria"/>
              </a:rPr>
              <a:t>0</a:t>
            </a:r>
          </a:p>
        </p:txBody>
      </p:sp>
      <p:sp>
        <p:nvSpPr>
          <p:cNvPr id="8" name="Stat label 0"/>
          <p:cNvSpPr txBox="1"/>
          <p:nvPr/>
        </p:nvSpPr>
        <p:spPr>
          <a:xfrm>
            <a:off x="7406640" y="246888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invented events. Llama without the catalogue invented 180 of the 205 it named.</a:t>
            </a:r>
          </a:p>
        </p:txBody>
      </p:sp>
      <p:sp>
        <p:nvSpPr>
          <p:cNvPr id="9" name="Stat 1.5"/>
          <p:cNvSpPr txBox="1"/>
          <p:nvPr/>
        </p:nvSpPr>
        <p:spPr>
          <a:xfrm>
            <a:off x="7406640" y="342900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0E6B63"/>
                </a:solidFill>
                <a:latin typeface="Cambria"/>
              </a:rPr>
              <a:t>1.5</a:t>
            </a:r>
          </a:p>
        </p:txBody>
      </p:sp>
      <p:sp>
        <p:nvSpPr>
          <p:cNvPr id="10" name="Stat label 1.5"/>
          <p:cNvSpPr txBox="1"/>
          <p:nvPr/>
        </p:nvSpPr>
        <p:spPr>
          <a:xfrm>
            <a:off x="7406640" y="429768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alibri"/>
              </a:rPr>
              <a:t>messages on average, against 5.6 filter clicks for the informed site user.</a:t>
            </a:r>
          </a:p>
        </p:txBody>
      </p:sp>
      <p:sp>
        <p:nvSpPr>
          <p:cNvPr id="11" name="Falls short band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A6414"/>
                </a:solidFill>
                <a:latin typeface="Calibri"/>
              </a:rPr>
              <a:t>Where it falls short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Very vague requests: 0.57, against 0.72 for a site user who knows every need.  ·  GroupFit's benefit over a simple average is not yet shown.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6 · USER INTERFACE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From a developer screen to a visitor's guide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13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B6675"/>
                </a:solidFill>
                <a:latin typeface="Calibri"/>
              </a:rPr>
              <a:t>BEFORE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5349240" cy="2368239"/>
          </a:xfrm>
          <a:prstGeom prst="rect">
            <a:avLst/>
          </a:prstGeom>
          <a:ln w="12700">
            <a:solidFill>
              <a:srgbClr val="D5DCE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63640" y="141732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AFTER</a:t>
            </a:r>
          </a:p>
        </p:txBody>
      </p:sp>
      <p:pic>
        <p:nvPicPr>
          <p:cNvPr id="9" name="Picture 8" descr="ui_opening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37360"/>
            <a:ext cx="5349240" cy="3426856"/>
          </a:xfrm>
          <a:prstGeom prst="rect">
            <a:avLst/>
          </a:prstGeom>
          <a:ln w="12700">
            <a:solidFill>
              <a:srgbClr val="D5DCE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392816"/>
            <a:ext cx="5349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675"/>
                </a:solidFill>
                <a:latin typeface="Calibri"/>
              </a:rPr>
              <a:t>Internals first: a “What I understood” panel and settings, and no hint of what to 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392816"/>
            <a:ext cx="5349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Shows what it can do: six topic buttons you can tap, such as Budget per person, and the chatbot asks about that topic; plus four example requests to tap (Amershi et al., 2019).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6 · USER INTERFACE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Cambria"/>
              </a:rPr>
              <a:t>Replies you can check and correct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SG Culture Pass AI Chatbot  ·  Group 4  ·  High-level system design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5912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675"/>
                </a:solidFill>
                <a:latin typeface="Calibri"/>
              </a:rP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B6675"/>
                </a:solidFill>
                <a:latin typeface="Calibri"/>
              </a:rPr>
              <a:t>BEFORE</a:t>
            </a:r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5019740" cy="3657600"/>
          </a:xfrm>
          <a:prstGeom prst="rect">
            <a:avLst/>
          </a:prstGeom>
          <a:ln w="12700">
            <a:solidFill>
              <a:srgbClr val="D5DCE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63640" y="141732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AFTER</a:t>
            </a:r>
          </a:p>
        </p:txBody>
      </p:sp>
      <p:pic>
        <p:nvPicPr>
          <p:cNvPr id="9" name="Picture 8" descr="ui_question_butt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37360"/>
            <a:ext cx="5349240" cy="2717300"/>
          </a:xfrm>
          <a:prstGeom prst="rect">
            <a:avLst/>
          </a:prstGeom>
          <a:ln w="12700">
            <a:solidFill>
              <a:srgbClr val="D5DCE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623560"/>
            <a:ext cx="5349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675"/>
                </a:solidFill>
                <a:latin typeface="Calibri"/>
              </a:rPr>
              <a:t>Assumptions in italics; long cards with raw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623560"/>
            <a:ext cx="5349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Request chips, one “Assuming” line you can correct, compact cards and one-tap answers (Budiu, 2018). Internals move behind “Show how it works”.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cept mock-up" descr="concept_mockup_de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727" y="320040"/>
            <a:ext cx="8778240" cy="4977993"/>
          </a:xfrm>
          <a:prstGeom prst="rect">
            <a:avLst/>
          </a:prstGeom>
          <a:ln w="19050">
            <a:solidFill>
              <a:srgbClr val="D5DCE2"/>
            </a:solidFill>
          </a:ln>
        </p:spPr>
      </p:pic>
      <p:sp>
        <p:nvSpPr>
          <p:cNvPr id="3" name="Links card"/>
          <p:cNvSpPr/>
          <p:nvPr/>
        </p:nvSpPr>
        <p:spPr>
          <a:xfrm>
            <a:off x="1706727" y="5526633"/>
            <a:ext cx="8778240" cy="960120"/>
          </a:xfrm>
          <a:prstGeom prst="roundRect">
            <a:avLst>
              <a:gd name="adj" fmla="val 1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26767" y="5636361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E6B63"/>
                </a:solidFill>
                <a:latin typeface="Calibri"/>
              </a:rPr>
              <a:t>TRY IT  </a:t>
            </a:r>
            <a:r>
              <a:rPr sz="2000" b="1">
                <a:solidFill>
                  <a:srgbClr val="1B2430"/>
                </a:solidFill>
                <a:latin typeface="Cambria"/>
              </a:rPr>
              <a:t>sg-culture-pass-chatbot.streamlit.app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6767" y="6056985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B6675"/>
                </a:solidFill>
                <a:latin typeface="Calibri"/>
              </a:rPr>
              <a:t>Code, data and evaluation: github.com/saranya-sai/SG-Culture-Pass-Chatbot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33207" y="5636361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>
                <a:solidFill>
                  <a:srgbClr val="C8102E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2177</Words>
  <Application>Microsoft Macintosh PowerPoint</Application>
  <PresentationFormat>Widescreen</PresentationFormat>
  <Paragraphs>219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 Culture Pass AI Chatbot: High-level system design</dc:title>
  <dc:subject/>
  <dc:creator>IRS Group 4</dc:creator>
  <cp:keywords/>
  <dc:description>generated using python-pptx</dc:description>
  <cp:lastModifiedBy>Adhithi Muruganandam</cp:lastModifiedBy>
  <cp:revision>1</cp:revision>
  <dcterms:created xsi:type="dcterms:W3CDTF">2013-01-27T09:14:16Z</dcterms:created>
  <dcterms:modified xsi:type="dcterms:W3CDTF">2026-10-25T02:50:02Z</dcterms:modified>
  <cp:category/>
</cp:coreProperties>
</file>